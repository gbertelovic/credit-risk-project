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CC9900"/>
    <a:srgbClr val="D09622"/>
    <a:srgbClr val="705532"/>
    <a:srgbClr val="986F38"/>
    <a:srgbClr val="4FD165"/>
    <a:srgbClr val="FF9E1D"/>
    <a:srgbClr val="D68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63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9785" y="4650640"/>
            <a:ext cx="7772400" cy="7635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4130" y="5414165"/>
            <a:ext cx="6400800" cy="610820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CC99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1138425"/>
            <a:ext cx="8229600" cy="53217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CC99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749245"/>
            <a:ext cx="8229600" cy="442844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0605" y="374900"/>
            <a:ext cx="7016195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CC99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2371" y="1138425"/>
            <a:ext cx="7016195" cy="4275740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880" y="1138425"/>
            <a:ext cx="8229600" cy="551222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CC99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80" y="1901950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80" y="2531813"/>
            <a:ext cx="4040188" cy="303505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705" y="1901950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705" y="2531813"/>
            <a:ext cx="4041775" cy="303505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9785" y="4497935"/>
            <a:ext cx="7772400" cy="763525"/>
          </a:xfrm>
        </p:spPr>
        <p:txBody>
          <a:bodyPr>
            <a:noAutofit/>
          </a:bodyPr>
          <a:lstStyle/>
          <a:p>
            <a:r>
              <a:rPr lang="hr-HR" sz="2800" dirty="0"/>
              <a:t>Procjena kreditnog rizika primjenom strojnog učenja</a:t>
            </a:r>
            <a:br>
              <a:rPr lang="hr-HR" sz="2800" dirty="0"/>
            </a:br>
            <a:r>
              <a:rPr lang="hr-HR" sz="2800" dirty="0"/>
              <a:t>- završni projekt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r-HR" dirty="0"/>
              <a:t>Glorija Bertelović</a:t>
            </a:r>
          </a:p>
          <a:p>
            <a:r>
              <a:rPr lang="hr-HR" dirty="0"/>
              <a:t>Lipik, 2026.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Problem:</a:t>
            </a:r>
            <a:endParaRPr lang="hr-H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Banke moraju procijeniti hoće li klijent vratiti kredit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Pogrešna procjena → financijski gubici </a:t>
            </a:r>
          </a:p>
          <a:p>
            <a:r>
              <a:rPr lang="hr-HR" b="1" dirty="0"/>
              <a:t>Cilj:</a:t>
            </a:r>
            <a:endParaRPr lang="hr-H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razviti model za procjenu kreditnog rizika</a:t>
            </a:r>
          </a:p>
        </p:txBody>
      </p:sp>
      <p:sp>
        <p:nvSpPr>
          <p:cNvPr id="5" name="Pravokutnik: zaobljeni kutovi 4">
            <a:extLst>
              <a:ext uri="{FF2B5EF4-FFF2-40B4-BE49-F238E27FC236}">
                <a16:creationId xmlns:a16="http://schemas.microsoft.com/office/drawing/2014/main" id="{E56A17B1-2CAB-30F6-1F41-10C294E983B1}"/>
              </a:ext>
            </a:extLst>
          </p:cNvPr>
          <p:cNvSpPr/>
          <p:nvPr/>
        </p:nvSpPr>
        <p:spPr>
          <a:xfrm>
            <a:off x="366037" y="680310"/>
            <a:ext cx="2984323" cy="91623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911655"/>
            <a:ext cx="7924190" cy="532180"/>
          </a:xfrm>
        </p:spPr>
        <p:txBody>
          <a:bodyPr>
            <a:normAutofit fontScale="90000"/>
          </a:bodyPr>
          <a:lstStyle/>
          <a:p>
            <a:r>
              <a:rPr lang="hr-HR" b="1" dirty="0"/>
              <a:t>PROBLEM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r-HR" b="1" dirty="0"/>
              <a:t>Podaci uključuju: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mjesečna primanja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iznos kredita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dug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starost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radni staž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kreditnu povijest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obrazovanje</a:t>
            </a:r>
          </a:p>
          <a:p>
            <a:pPr marL="457200" lvl="1" indent="0">
              <a:buNone/>
            </a:pPr>
            <a:endParaRPr lang="hr-HR" b="1" dirty="0"/>
          </a:p>
          <a:p>
            <a:r>
              <a:rPr lang="hr-HR" dirty="0"/>
              <a:t>podaci su očišćeni i pripremljeni</a:t>
            </a:r>
          </a:p>
        </p:txBody>
      </p:sp>
      <p:sp>
        <p:nvSpPr>
          <p:cNvPr id="5" name="Pravokutnik: zaobljeni kutovi 4">
            <a:extLst>
              <a:ext uri="{FF2B5EF4-FFF2-40B4-BE49-F238E27FC236}">
                <a16:creationId xmlns:a16="http://schemas.microsoft.com/office/drawing/2014/main" id="{E56A17B1-2CAB-30F6-1F41-10C294E983B1}"/>
              </a:ext>
            </a:extLst>
          </p:cNvPr>
          <p:cNvSpPr/>
          <p:nvPr/>
        </p:nvSpPr>
        <p:spPr>
          <a:xfrm>
            <a:off x="366037" y="680310"/>
            <a:ext cx="2984323" cy="91623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911655"/>
            <a:ext cx="7924190" cy="532180"/>
          </a:xfrm>
        </p:spPr>
        <p:txBody>
          <a:bodyPr>
            <a:normAutofit fontScale="90000"/>
          </a:bodyPr>
          <a:lstStyle/>
          <a:p>
            <a:r>
              <a:rPr lang="hr-HR" b="1" dirty="0"/>
              <a:t>PODACI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9512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b="1" dirty="0"/>
              <a:t>Rizik (</a:t>
            </a:r>
            <a:r>
              <a:rPr lang="hr-HR" b="1" dirty="0" err="1"/>
              <a:t>target</a:t>
            </a:r>
            <a:r>
              <a:rPr lang="hr-HR" b="1" dirty="0"/>
              <a:t>):</a:t>
            </a:r>
            <a:endParaRPr lang="hr-H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1 = visok rizik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0 = nizak rizik </a:t>
            </a:r>
          </a:p>
          <a:p>
            <a:r>
              <a:rPr lang="hr-HR" dirty="0"/>
              <a:t>Definirana na temelju: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duga i primanja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kreditne povijesti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staža</a:t>
            </a:r>
          </a:p>
        </p:txBody>
      </p:sp>
      <p:sp>
        <p:nvSpPr>
          <p:cNvPr id="5" name="Pravokutnik: zaobljeni kutovi 4">
            <a:extLst>
              <a:ext uri="{FF2B5EF4-FFF2-40B4-BE49-F238E27FC236}">
                <a16:creationId xmlns:a16="http://schemas.microsoft.com/office/drawing/2014/main" id="{E56A17B1-2CAB-30F6-1F41-10C294E983B1}"/>
              </a:ext>
            </a:extLst>
          </p:cNvPr>
          <p:cNvSpPr/>
          <p:nvPr/>
        </p:nvSpPr>
        <p:spPr>
          <a:xfrm>
            <a:off x="366037" y="680310"/>
            <a:ext cx="3747848" cy="91623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911655"/>
            <a:ext cx="7924190" cy="532180"/>
          </a:xfrm>
        </p:spPr>
        <p:txBody>
          <a:bodyPr>
            <a:normAutofit fontScale="90000"/>
          </a:bodyPr>
          <a:lstStyle/>
          <a:p>
            <a:r>
              <a:rPr lang="hr-HR" b="1" dirty="0"/>
              <a:t>CILJANA VARIJABLA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26901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Random Forest</a:t>
            </a:r>
            <a:endParaRPr lang="hr-HR" dirty="0"/>
          </a:p>
          <a:p>
            <a:endParaRPr lang="hr-HR" dirty="0"/>
          </a:p>
          <a:p>
            <a:r>
              <a:rPr lang="hr-HR" dirty="0"/>
              <a:t>Zašto: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radi dobro s tabličnim podacima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prepoznaje složene odnose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daje dobre rezultate</a:t>
            </a:r>
          </a:p>
        </p:txBody>
      </p:sp>
      <p:sp>
        <p:nvSpPr>
          <p:cNvPr id="5" name="Pravokutnik: zaobljeni kutovi 4">
            <a:extLst>
              <a:ext uri="{FF2B5EF4-FFF2-40B4-BE49-F238E27FC236}">
                <a16:creationId xmlns:a16="http://schemas.microsoft.com/office/drawing/2014/main" id="{E56A17B1-2CAB-30F6-1F41-10C294E983B1}"/>
              </a:ext>
            </a:extLst>
          </p:cNvPr>
          <p:cNvSpPr/>
          <p:nvPr/>
        </p:nvSpPr>
        <p:spPr>
          <a:xfrm>
            <a:off x="366037" y="680310"/>
            <a:ext cx="2984323" cy="91623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911655"/>
            <a:ext cx="7924190" cy="532180"/>
          </a:xfrm>
        </p:spPr>
        <p:txBody>
          <a:bodyPr>
            <a:normAutofit fontScale="90000"/>
          </a:bodyPr>
          <a:lstStyle/>
          <a:p>
            <a:r>
              <a:rPr lang="hr-HR" b="1" dirty="0"/>
              <a:t>MODEL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966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hr-HR" dirty="0" err="1"/>
              <a:t>Accuracy</a:t>
            </a:r>
            <a:r>
              <a:rPr lang="hr-HR" dirty="0"/>
              <a:t>: 0.96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ROC AUC: 0.988 </a:t>
            </a:r>
          </a:p>
        </p:txBody>
      </p:sp>
      <p:sp>
        <p:nvSpPr>
          <p:cNvPr id="5" name="Pravokutnik: zaobljeni kutovi 4">
            <a:extLst>
              <a:ext uri="{FF2B5EF4-FFF2-40B4-BE49-F238E27FC236}">
                <a16:creationId xmlns:a16="http://schemas.microsoft.com/office/drawing/2014/main" id="{E56A17B1-2CAB-30F6-1F41-10C294E983B1}"/>
              </a:ext>
            </a:extLst>
          </p:cNvPr>
          <p:cNvSpPr/>
          <p:nvPr/>
        </p:nvSpPr>
        <p:spPr>
          <a:xfrm>
            <a:off x="366037" y="680310"/>
            <a:ext cx="2984323" cy="91623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911655"/>
            <a:ext cx="7924190" cy="532180"/>
          </a:xfrm>
        </p:spPr>
        <p:txBody>
          <a:bodyPr>
            <a:normAutofit fontScale="90000"/>
          </a:bodyPr>
          <a:lstStyle/>
          <a:p>
            <a:r>
              <a:rPr lang="hr-HR" b="1" dirty="0"/>
              <a:t>REZULTATI</a:t>
            </a:r>
            <a:endParaRPr lang="en-US" b="1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051A0B18-0C20-7E52-FD71-F778163CE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0" y="3217021"/>
            <a:ext cx="4050960" cy="2884774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35ECF8D2-34C0-F679-1E0A-0673DEB95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705" y="3213449"/>
            <a:ext cx="4156485" cy="288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06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primanja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obrazovanje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dug </a:t>
            </a:r>
          </a:p>
        </p:txBody>
      </p:sp>
      <p:sp>
        <p:nvSpPr>
          <p:cNvPr id="5" name="Pravokutnik: zaobljeni kutovi 4">
            <a:extLst>
              <a:ext uri="{FF2B5EF4-FFF2-40B4-BE49-F238E27FC236}">
                <a16:creationId xmlns:a16="http://schemas.microsoft.com/office/drawing/2014/main" id="{E56A17B1-2CAB-30F6-1F41-10C294E983B1}"/>
              </a:ext>
            </a:extLst>
          </p:cNvPr>
          <p:cNvSpPr/>
          <p:nvPr/>
        </p:nvSpPr>
        <p:spPr>
          <a:xfrm>
            <a:off x="366036" y="680310"/>
            <a:ext cx="3595143" cy="91623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911655"/>
            <a:ext cx="7924190" cy="532180"/>
          </a:xfrm>
        </p:spPr>
        <p:txBody>
          <a:bodyPr>
            <a:normAutofit fontScale="90000"/>
          </a:bodyPr>
          <a:lstStyle/>
          <a:p>
            <a:r>
              <a:rPr lang="hr-HR" b="1" dirty="0"/>
              <a:t>VAŽNE VARIJABLE</a:t>
            </a:r>
            <a:endParaRPr lang="en-US" b="1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16A02D20-E2B7-45A4-9B64-BCB28F10E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15" y="2813901"/>
            <a:ext cx="7015280" cy="366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7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model radi dobro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može pomoći bankama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/>
              <a:t>važno </a:t>
            </a:r>
            <a:r>
              <a:rPr lang="hr-HR" dirty="0"/>
              <a:t>je naglasiti: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model bi se u praksi koristio kao podrška odlučivanju, a ne kao jedini kriterij</a:t>
            </a:r>
          </a:p>
        </p:txBody>
      </p:sp>
      <p:sp>
        <p:nvSpPr>
          <p:cNvPr id="5" name="Pravokutnik: zaobljeni kutovi 4">
            <a:extLst>
              <a:ext uri="{FF2B5EF4-FFF2-40B4-BE49-F238E27FC236}">
                <a16:creationId xmlns:a16="http://schemas.microsoft.com/office/drawing/2014/main" id="{E56A17B1-2CAB-30F6-1F41-10C294E983B1}"/>
              </a:ext>
            </a:extLst>
          </p:cNvPr>
          <p:cNvSpPr/>
          <p:nvPr/>
        </p:nvSpPr>
        <p:spPr>
          <a:xfrm>
            <a:off x="366036" y="680310"/>
            <a:ext cx="3137029" cy="91623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911655"/>
            <a:ext cx="7924190" cy="532180"/>
          </a:xfrm>
        </p:spPr>
        <p:txBody>
          <a:bodyPr>
            <a:normAutofit fontScale="90000"/>
          </a:bodyPr>
          <a:lstStyle/>
          <a:p>
            <a:r>
              <a:rPr lang="hr-HR" b="1" dirty="0"/>
              <a:t>ZAKLJUČAK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7113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Ovdje model daje predikciju za jednog klijenta i procjenjuje njegov rizik.</a:t>
            </a:r>
          </a:p>
        </p:txBody>
      </p:sp>
      <p:sp>
        <p:nvSpPr>
          <p:cNvPr id="5" name="Pravokutnik: zaobljeni kutovi 4">
            <a:extLst>
              <a:ext uri="{FF2B5EF4-FFF2-40B4-BE49-F238E27FC236}">
                <a16:creationId xmlns:a16="http://schemas.microsoft.com/office/drawing/2014/main" id="{E56A17B1-2CAB-30F6-1F41-10C294E983B1}"/>
              </a:ext>
            </a:extLst>
          </p:cNvPr>
          <p:cNvSpPr/>
          <p:nvPr/>
        </p:nvSpPr>
        <p:spPr>
          <a:xfrm>
            <a:off x="366036" y="680310"/>
            <a:ext cx="3137029" cy="91623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911655"/>
            <a:ext cx="7924190" cy="532180"/>
          </a:xfrm>
        </p:spPr>
        <p:txBody>
          <a:bodyPr>
            <a:normAutofit fontScale="90000"/>
          </a:bodyPr>
          <a:lstStyle/>
          <a:p>
            <a:r>
              <a:rPr lang="hr-HR" b="1" dirty="0"/>
              <a:t>DEMO</a:t>
            </a:r>
            <a:endParaRPr lang="en-US" b="1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39260037-6A6D-C388-B5EC-F59003A98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597" y="2335466"/>
            <a:ext cx="4157143" cy="3078699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460A4224-0EFA-68C6-01BB-01942E0CC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8" y="5452562"/>
            <a:ext cx="9144000" cy="131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10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</TotalTime>
  <Words>152</Words>
  <Application>Microsoft Office PowerPoint</Application>
  <PresentationFormat>Prikaz na zaslonu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2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Procjena kreditnog rizika primjenom strojnog učenja - završni projekt</vt:lpstr>
      <vt:lpstr>PROBLEM</vt:lpstr>
      <vt:lpstr>PODACI</vt:lpstr>
      <vt:lpstr>CILJANA VARIJABLA</vt:lpstr>
      <vt:lpstr>MODEL</vt:lpstr>
      <vt:lpstr>REZULTATI</vt:lpstr>
      <vt:lpstr>VAŽNE VARIJABLE</vt:lpstr>
      <vt:lpstr>ZAKLJUČAK</vt:lpstr>
      <vt:lpstr>DEMO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Glorija Bertelović</cp:lastModifiedBy>
  <cp:revision>30</cp:revision>
  <dcterms:created xsi:type="dcterms:W3CDTF">2013-08-21T19:17:07Z</dcterms:created>
  <dcterms:modified xsi:type="dcterms:W3CDTF">2026-04-23T19:07:49Z</dcterms:modified>
</cp:coreProperties>
</file>